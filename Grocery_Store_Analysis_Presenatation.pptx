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6" r:id="rId7"/>
    <p:sldId id="262" r:id="rId8"/>
    <p:sldId id="263" r:id="rId9"/>
    <p:sldId id="264" r:id="rId10"/>
    <p:sldId id="265" r:id="rId11"/>
    <p:sldId id="267" r:id="rId12"/>
    <p:sldId id="269" r:id="rId13"/>
    <p:sldId id="270" r:id="rId14"/>
    <p:sldId id="271" r:id="rId15"/>
    <p:sldId id="272" r:id="rId16"/>
    <p:sldId id="259" r:id="rId17"/>
  </p:sldIdLst>
  <p:sldSz cx="12192000" cy="6858000"/>
  <p:notesSz cx="6858000" cy="9144000"/>
  <p:embeddedFontLst>
    <p:embeddedFont>
      <p:font typeface="Lato Black" panose="020F0502020204030203" pitchFamily="34" charset="0"/>
      <p:bold r:id="rId19"/>
      <p:boldItalic r:id="rId20"/>
    </p:embeddedFont>
    <p:embeddedFont>
      <p:font typeface="Libre Baskerville" panose="02000000000000000000" pitchFamily="2" charset="0"/>
      <p:regular r:id="rId21"/>
      <p:bold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3856" autoAdjust="0"/>
  </p:normalViewPr>
  <p:slideViewPr>
    <p:cSldViewPr snapToGrid="0">
      <p:cViewPr varScale="1">
        <p:scale>
          <a:sx n="77" d="100"/>
          <a:sy n="77" d="100"/>
        </p:scale>
        <p:origin x="9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tikshachaudhar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tiksh030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Grocery Store Management</a:t>
            </a:r>
            <a:endParaRPr sz="2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529362-FAF8-AC7E-B2E4-ABA5A7E7F0E0}"/>
              </a:ext>
            </a:extLst>
          </p:cNvPr>
          <p:cNvSpPr txBox="1"/>
          <p:nvPr/>
        </p:nvSpPr>
        <p:spPr>
          <a:xfrm>
            <a:off x="648337" y="5073908"/>
            <a:ext cx="11071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: Tiksha Chaudhari  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      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 18-12-2025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1" y="1299172"/>
            <a:ext cx="10756099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Background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  have recently completed my Master of Science (</a:t>
            </a:r>
            <a:r>
              <a:rPr lang="en-US" sz="240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M.Sc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in Computational Mathematics from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Kavayitri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Bahinabai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Chaudhari North Maharashtra University, Jalgaon, Maharashtra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</a:t>
            </a:r>
          </a:p>
          <a:p>
            <a:pPr lvl="0">
              <a:buClr>
                <a:schemeClr val="dk1"/>
              </a:buClr>
              <a:buSzPts val="2400"/>
            </a:pP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Science</a:t>
            </a: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400" dirty="0"/>
              <a:t>I am deeply interested in Python and passionate about working with data to uncover meaningful insights. I want to learn Data Science to develop analytical and predictive models that can transform raw data into valuable information and support informed decision-making.</a:t>
            </a: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your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profile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URLs</a:t>
            </a:r>
          </a:p>
          <a:p>
            <a:pPr fontAlgn="base"/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Linkdeln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profile : </a:t>
            </a:r>
            <a:r>
              <a:rPr lang="en-IN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400" dirty="0"/>
              <a:t> </a:t>
            </a:r>
            <a:r>
              <a:rPr lang="en-US" sz="2400" dirty="0">
                <a:hlinkClick r:id="rId3"/>
              </a:rPr>
              <a:t>www.linkedin.com/in/tikshachaudhari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GitHub Profile : 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https://github.com/tiksh030</a:t>
            </a:r>
            <a:endParaRPr lang="en-US" sz="2400" dirty="0"/>
          </a:p>
          <a:p>
            <a:pPr fontAlgn="base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>
              <a:buSzPts val="2800"/>
              <a:buFont typeface="+mj-lt"/>
              <a:buAutoNum type="arabicPeriod"/>
            </a:pPr>
            <a:r>
              <a:rPr lang="en-IN" dirty="0"/>
              <a:t>Project objective</a:t>
            </a:r>
          </a:p>
          <a:p>
            <a:pPr marL="514350" lvl="0" indent="-514350">
              <a:buSzPts val="2800"/>
              <a:buFont typeface="+mj-lt"/>
              <a:buAutoNum type="arabicPeriod"/>
            </a:pPr>
            <a:r>
              <a:rPr lang="en-IN" dirty="0"/>
              <a:t> Analysis 1: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Customers by total purchase amount </a:t>
            </a:r>
          </a:p>
          <a:p>
            <a:pPr marL="514350" lvl="0" indent="-514350">
              <a:buSzPts val="2800"/>
              <a:buFont typeface="+mj-lt"/>
              <a:buAutoNum type="arabicPeriod"/>
            </a:pPr>
            <a:r>
              <a:rPr lang="en-IN" dirty="0"/>
              <a:t>Analysis 2: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Distribution Across Categories </a:t>
            </a:r>
          </a:p>
          <a:p>
            <a:pPr marL="514350" lvl="0" indent="-514350">
              <a:buSzPts val="2800"/>
              <a:buFont typeface="+mj-lt"/>
              <a:buAutoNum type="arabicPeriod"/>
            </a:pPr>
            <a:r>
              <a:rPr lang="en-IN" dirty="0"/>
              <a:t>Analysis 3: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Trends in Order Volume and Revenue</a:t>
            </a:r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lvl="0" indent="-514350">
              <a:buSzPts val="2800"/>
              <a:buFont typeface="+mj-lt"/>
              <a:buAutoNum type="arabicPeriod"/>
            </a:pPr>
            <a:r>
              <a:rPr lang="en-IN" dirty="0"/>
              <a:t>Analysis 4: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Products and Suppliers by Revenue</a:t>
            </a:r>
          </a:p>
          <a:p>
            <a:pPr marL="514350" lvl="0" indent="-514350">
              <a:buSzPts val="2800"/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5: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Weekday by highest total revenue</a:t>
            </a:r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lvl="0" indent="-514350">
              <a:buSzPts val="2800"/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6: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price of products by category</a:t>
            </a:r>
            <a:endParaRPr lang="en-IN" dirty="0"/>
          </a:p>
          <a:p>
            <a:pPr marL="514350" lvl="0" indent="-514350">
              <a:buSzPts val="2800"/>
              <a:buFont typeface="+mj-lt"/>
              <a:buAutoNum type="arabicPeriod"/>
            </a:pPr>
            <a:r>
              <a:rPr lang="en-IN" dirty="0"/>
              <a:t>Final Business insights</a:t>
            </a:r>
          </a:p>
          <a:p>
            <a:pPr marL="514350" lvl="0" indent="-514350">
              <a:buSzPts val="2800"/>
              <a:buFont typeface="+mj-lt"/>
              <a:buAutoNum type="arabicPeriod"/>
            </a:pPr>
            <a:r>
              <a:rPr lang="en-IN" dirty="0"/>
              <a:t>Recommendations</a:t>
            </a:r>
          </a:p>
          <a:p>
            <a:pPr marL="514350" lvl="0" indent="-514350">
              <a:buSzPts val="2800"/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lvl="0" indent="-514350">
              <a:buSzPts val="2800"/>
              <a:buFont typeface="+mj-lt"/>
              <a:buAutoNum type="arabicPeriod"/>
            </a:pPr>
            <a:r>
              <a:rPr lang="en-IN" dirty="0"/>
              <a:t>Experience &amp; Challenges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AA30-08B2-96CB-2421-1229EFC90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Objective of the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C97240-B527-5BDA-C220-C95D47149A50}"/>
              </a:ext>
            </a:extLst>
          </p:cNvPr>
          <p:cNvSpPr txBox="1"/>
          <p:nvPr/>
        </p:nvSpPr>
        <p:spPr>
          <a:xfrm>
            <a:off x="698090" y="2127136"/>
            <a:ext cx="11582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data analysis to generate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top-performing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and products.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trends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patterns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Evaluate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productivity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performance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on sales and order data</a:t>
            </a:r>
            <a:r>
              <a:rPr lang="en-US" sz="2400" dirty="0"/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849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F5114-E14D-A7F3-5067-0B8BBEC7D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29" y="124692"/>
            <a:ext cx="10515600" cy="622560"/>
          </a:xfrm>
        </p:spPr>
        <p:txBody>
          <a:bodyPr>
            <a:normAutofit fontScale="90000"/>
          </a:bodyPr>
          <a:lstStyle/>
          <a:p>
            <a:br>
              <a:rPr lang="en-IN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r>
              <a:rPr lang="en-IN" sz="36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ER Diagram</a:t>
            </a:r>
            <a:br>
              <a:rPr lang="en-IN" dirty="0"/>
            </a:b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C5EDB1-1C92-8DB4-118D-DECA341811D5}"/>
              </a:ext>
            </a:extLst>
          </p:cNvPr>
          <p:cNvSpPr/>
          <p:nvPr/>
        </p:nvSpPr>
        <p:spPr>
          <a:xfrm>
            <a:off x="228600" y="747252"/>
            <a:ext cx="11585863" cy="598605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31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811F1-7D23-1BF8-BD03-8A9DD1F80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BE86-BA29-1AFB-5187-2BD1BC188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632"/>
            <a:ext cx="10515600" cy="871440"/>
          </a:xfrm>
        </p:spPr>
        <p:txBody>
          <a:bodyPr>
            <a:normAutofit fontScale="90000"/>
          </a:bodyPr>
          <a:lstStyle/>
          <a:p>
            <a:br>
              <a:rPr lang="en-US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r>
              <a:rPr lang="en-US" sz="36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Analysis 1</a:t>
            </a:r>
            <a:r>
              <a:rPr lang="en-US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: </a:t>
            </a:r>
            <a:r>
              <a:rPr lang="en-US" sz="36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Top 5 Customers by total purchase amount</a:t>
            </a:r>
            <a:br>
              <a:rPr lang="en-US" sz="36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endParaRPr lang="en-US" sz="3600" b="1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87FB30-E513-2A59-25DC-59DBD0935E3F}"/>
              </a:ext>
            </a:extLst>
          </p:cNvPr>
          <p:cNvSpPr txBox="1"/>
          <p:nvPr/>
        </p:nvSpPr>
        <p:spPr>
          <a:xfrm>
            <a:off x="432619" y="1062990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 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are the top 5 customers by total purchase amount?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D09070-8758-C077-341C-9F2426AD216F}"/>
              </a:ext>
            </a:extLst>
          </p:cNvPr>
          <p:cNvSpPr txBox="1"/>
          <p:nvPr/>
        </p:nvSpPr>
        <p:spPr>
          <a:xfrm>
            <a:off x="432619" y="3429000"/>
            <a:ext cx="2231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Result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B1616-C03A-CB39-DF67-3A82F596251E}"/>
              </a:ext>
            </a:extLst>
          </p:cNvPr>
          <p:cNvSpPr txBox="1"/>
          <p:nvPr/>
        </p:nvSpPr>
        <p:spPr>
          <a:xfrm>
            <a:off x="512132" y="4699662"/>
            <a:ext cx="111265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: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Chetan Naidu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customer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contributing the highest purchase amount (₹11,256).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customers are key contributors to overall sales, showing a strong and consistent purchase pattern.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6EF9AA-E6F0-CC61-9FEB-A23221D8D244}"/>
              </a:ext>
            </a:extLst>
          </p:cNvPr>
          <p:cNvSpPr/>
          <p:nvPr/>
        </p:nvSpPr>
        <p:spPr>
          <a:xfrm>
            <a:off x="2283541" y="1582779"/>
            <a:ext cx="4557252" cy="170276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710B17-C9AC-9F77-9DC8-E6C37DA7BFE1}"/>
              </a:ext>
            </a:extLst>
          </p:cNvPr>
          <p:cNvSpPr/>
          <p:nvPr/>
        </p:nvSpPr>
        <p:spPr>
          <a:xfrm>
            <a:off x="2477729" y="3520262"/>
            <a:ext cx="2802194" cy="139874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D8ED45-481E-E7B7-F256-E9E79DC2C0AB}"/>
              </a:ext>
            </a:extLst>
          </p:cNvPr>
          <p:cNvSpPr/>
          <p:nvPr/>
        </p:nvSpPr>
        <p:spPr>
          <a:xfrm>
            <a:off x="7079226" y="1582779"/>
            <a:ext cx="4274574" cy="2882162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41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F3569-86B9-5B42-F992-F1FA111A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65F0F-5428-93E5-D402-FE53A4DA0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Analysis 2 : </a:t>
            </a:r>
            <a:r>
              <a:rPr lang="en-US" sz="32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Product Distribution Across Categories</a:t>
            </a:r>
            <a:endParaRPr lang="en-US" sz="3200" b="1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83AF2-33CA-71A3-240E-862EF3AAC2BD}"/>
              </a:ext>
            </a:extLst>
          </p:cNvPr>
          <p:cNvSpPr txBox="1"/>
          <p:nvPr/>
        </p:nvSpPr>
        <p:spPr>
          <a:xfrm>
            <a:off x="432619" y="1513707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 :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many products exist in each category?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01B99-C785-6479-1381-8A16BE6B5EDD}"/>
              </a:ext>
            </a:extLst>
          </p:cNvPr>
          <p:cNvSpPr txBox="1"/>
          <p:nvPr/>
        </p:nvSpPr>
        <p:spPr>
          <a:xfrm>
            <a:off x="432619" y="3567499"/>
            <a:ext cx="2231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Result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0A49ED-F3A5-F78F-CB4B-DA73404F9D2B}"/>
              </a:ext>
            </a:extLst>
          </p:cNvPr>
          <p:cNvSpPr txBox="1"/>
          <p:nvPr/>
        </p:nvSpPr>
        <p:spPr>
          <a:xfrm>
            <a:off x="381000" y="5024285"/>
            <a:ext cx="106188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product presence in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Grains &amp; Cereals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Snacks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variety in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Dairy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 Care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Household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category shows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product count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offering growth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potential.</a:t>
            </a: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515290-107B-BAE4-32C1-684025D15C5E}"/>
              </a:ext>
            </a:extLst>
          </p:cNvPr>
          <p:cNvSpPr/>
          <p:nvPr/>
        </p:nvSpPr>
        <p:spPr>
          <a:xfrm>
            <a:off x="2229465" y="2077776"/>
            <a:ext cx="5397909" cy="134702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F50235-71E4-D560-D284-F1ABB6D0DA64}"/>
              </a:ext>
            </a:extLst>
          </p:cNvPr>
          <p:cNvSpPr/>
          <p:nvPr/>
        </p:nvSpPr>
        <p:spPr>
          <a:xfrm>
            <a:off x="2340077" y="3677265"/>
            <a:ext cx="2861188" cy="134702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BA3A3D-DFB1-827D-5E33-6F94C791025F}"/>
              </a:ext>
            </a:extLst>
          </p:cNvPr>
          <p:cNvSpPr/>
          <p:nvPr/>
        </p:nvSpPr>
        <p:spPr>
          <a:xfrm>
            <a:off x="7627374" y="1524396"/>
            <a:ext cx="4132007" cy="328357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84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FF5E8-A223-43CB-5A73-0CF4D8563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1DC61-11DC-834A-FEA3-A8D9B067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346" y="330618"/>
            <a:ext cx="10990006" cy="765585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Analysis 3 : </a:t>
            </a:r>
            <a:r>
              <a:rPr lang="en-US" sz="36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Monthly</a:t>
            </a:r>
            <a:r>
              <a:rPr lang="en-US" sz="36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Trends in Order Volume and Revenue</a:t>
            </a:r>
            <a:endParaRPr lang="en-US" sz="3600" b="1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AE2CDC-11CE-CEF5-D4FD-5CB0B5A3EC2E}"/>
              </a:ext>
            </a:extLst>
          </p:cNvPr>
          <p:cNvSpPr txBox="1"/>
          <p:nvPr/>
        </p:nvSpPr>
        <p:spPr>
          <a:xfrm>
            <a:off x="366253" y="1178416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What are the monthly trends in order volume and revenue?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1FCCF-0C66-6ABD-0C92-434C27B0466B}"/>
              </a:ext>
            </a:extLst>
          </p:cNvPr>
          <p:cNvSpPr txBox="1"/>
          <p:nvPr/>
        </p:nvSpPr>
        <p:spPr>
          <a:xfrm>
            <a:off x="301113" y="3635594"/>
            <a:ext cx="2231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Result 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16E965-9E80-BB8F-D663-941358FF21D3}"/>
              </a:ext>
            </a:extLst>
          </p:cNvPr>
          <p:cNvSpPr/>
          <p:nvPr/>
        </p:nvSpPr>
        <p:spPr>
          <a:xfrm>
            <a:off x="2349910" y="1838902"/>
            <a:ext cx="3746090" cy="190562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E1230F-D257-B28D-A8E4-195E5C0DA392}"/>
              </a:ext>
            </a:extLst>
          </p:cNvPr>
          <p:cNvSpPr/>
          <p:nvPr/>
        </p:nvSpPr>
        <p:spPr>
          <a:xfrm>
            <a:off x="2349910" y="3751562"/>
            <a:ext cx="3608439" cy="139897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66B836-821E-A386-596B-2136B936401F}"/>
              </a:ext>
            </a:extLst>
          </p:cNvPr>
          <p:cNvSpPr/>
          <p:nvPr/>
        </p:nvSpPr>
        <p:spPr>
          <a:xfrm>
            <a:off x="6567948" y="1779575"/>
            <a:ext cx="5260258" cy="3500348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C354C-111B-947A-0AB4-7BF25BF8DC9C}"/>
              </a:ext>
            </a:extLst>
          </p:cNvPr>
          <p:cNvSpPr txBox="1"/>
          <p:nvPr/>
        </p:nvSpPr>
        <p:spPr>
          <a:xfrm>
            <a:off x="301113" y="5394455"/>
            <a:ext cx="117434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January to March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consistently high order volumes, indicating solid customer demand.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April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experiences the lowest orders of the year.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6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462F8-3BEC-6E85-583B-DA50F4E2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43060-1E21-78B8-6A1E-3D32E7630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368"/>
            <a:ext cx="10515600" cy="76558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Analysis 4: </a:t>
            </a:r>
            <a:r>
              <a:rPr lang="en-US" sz="32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Top Products and Suppliers by Revenue</a:t>
            </a:r>
            <a:endParaRPr lang="en-US" sz="3200" b="1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1B42E-9560-B5A0-2829-280B92040D42}"/>
              </a:ext>
            </a:extLst>
          </p:cNvPr>
          <p:cNvSpPr txBox="1"/>
          <p:nvPr/>
        </p:nvSpPr>
        <p:spPr>
          <a:xfrm>
            <a:off x="432619" y="1068509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 :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products and suppliers contribute the most to total revenue?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CA781C-F62D-57E8-7238-F6EBF7EC1676}"/>
              </a:ext>
            </a:extLst>
          </p:cNvPr>
          <p:cNvSpPr txBox="1"/>
          <p:nvPr/>
        </p:nvSpPr>
        <p:spPr>
          <a:xfrm>
            <a:off x="432619" y="4127498"/>
            <a:ext cx="2231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Result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64F3EB-A3CC-2507-20ED-ECE533C18F78}"/>
              </a:ext>
            </a:extLst>
          </p:cNvPr>
          <p:cNvSpPr/>
          <p:nvPr/>
        </p:nvSpPr>
        <p:spPr>
          <a:xfrm>
            <a:off x="1986117" y="1785078"/>
            <a:ext cx="4945625" cy="216784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3A9907-83B9-F621-67A9-61EB9F244166}"/>
              </a:ext>
            </a:extLst>
          </p:cNvPr>
          <p:cNvSpPr/>
          <p:nvPr/>
        </p:nvSpPr>
        <p:spPr>
          <a:xfrm>
            <a:off x="2435942" y="4221074"/>
            <a:ext cx="3254477" cy="123741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D4681-D40F-8BCC-8A83-7F8E56A0FC97}"/>
              </a:ext>
            </a:extLst>
          </p:cNvPr>
          <p:cNvSpPr txBox="1"/>
          <p:nvPr/>
        </p:nvSpPr>
        <p:spPr>
          <a:xfrm>
            <a:off x="432619" y="5552067"/>
            <a:ext cx="10736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Aarya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the highest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among all suppliers.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 Sanitizer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Biscuits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Aarya’s top performing products.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98372-103D-04C4-2683-321225AC1390}"/>
              </a:ext>
            </a:extLst>
          </p:cNvPr>
          <p:cNvSpPr/>
          <p:nvPr/>
        </p:nvSpPr>
        <p:spPr>
          <a:xfrm>
            <a:off x="6931742" y="1785078"/>
            <a:ext cx="4422058" cy="3673413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1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3ECCD-3841-4352-9F87-C52B7EEF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B4D6-C28C-DB55-A54E-16BA1C266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Analysis 5: </a:t>
            </a:r>
            <a:r>
              <a:rPr lang="en-US" sz="32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Weekday by highest total revenue</a:t>
            </a:r>
            <a:endParaRPr lang="en-US" sz="3200" b="1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4E768-24CB-7432-295F-AC278CAD9401}"/>
              </a:ext>
            </a:extLst>
          </p:cNvPr>
          <p:cNvSpPr txBox="1"/>
          <p:nvPr/>
        </p:nvSpPr>
        <p:spPr>
          <a:xfrm>
            <a:off x="432619" y="1198742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 :</a:t>
            </a:r>
            <a:r>
              <a:rPr lang="en-US" sz="2400" b="1" dirty="0"/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weekdays generate the highest total revenue?</a:t>
            </a: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35255B-DDAE-4D13-E920-C411AEB2F086}"/>
              </a:ext>
            </a:extLst>
          </p:cNvPr>
          <p:cNvSpPr txBox="1"/>
          <p:nvPr/>
        </p:nvSpPr>
        <p:spPr>
          <a:xfrm>
            <a:off x="245806" y="3429000"/>
            <a:ext cx="2231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Result 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1C82AE-A640-42B9-FD67-7478E8BB63FB}"/>
              </a:ext>
            </a:extLst>
          </p:cNvPr>
          <p:cNvSpPr/>
          <p:nvPr/>
        </p:nvSpPr>
        <p:spPr>
          <a:xfrm>
            <a:off x="2145893" y="1925780"/>
            <a:ext cx="3065204" cy="150322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376A4E-E349-8740-C540-1EFCB23C841A}"/>
              </a:ext>
            </a:extLst>
          </p:cNvPr>
          <p:cNvSpPr/>
          <p:nvPr/>
        </p:nvSpPr>
        <p:spPr>
          <a:xfrm>
            <a:off x="2293375" y="3786873"/>
            <a:ext cx="2133600" cy="117741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F31F90-4B76-482F-59C0-02BEF0267665}"/>
              </a:ext>
            </a:extLst>
          </p:cNvPr>
          <p:cNvSpPr txBox="1"/>
          <p:nvPr/>
        </p:nvSpPr>
        <p:spPr>
          <a:xfrm>
            <a:off x="172064" y="4964286"/>
            <a:ext cx="1184787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Friday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top revenue day.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Wednesday &amp; Saturday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also perform strong.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Monday &amp; Tuesday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the lowest sales.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trend shows customers prefer shopping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towards the end of the week.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89D2F7-4B02-0F12-C57E-5C4F4D8C0191}"/>
              </a:ext>
            </a:extLst>
          </p:cNvPr>
          <p:cNvSpPr/>
          <p:nvPr/>
        </p:nvSpPr>
        <p:spPr>
          <a:xfrm>
            <a:off x="6312310" y="1798906"/>
            <a:ext cx="5348748" cy="358917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13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03AA-420C-DCCE-4498-B25DFC02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31BCC-E88D-9B8A-8C6F-AB12F5AC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38" y="191139"/>
            <a:ext cx="10515600" cy="1046932"/>
          </a:xfrm>
        </p:spPr>
        <p:txBody>
          <a:bodyPr>
            <a:normAutofit fontScale="90000"/>
          </a:bodyPr>
          <a:lstStyle/>
          <a:p>
            <a:br>
              <a:rPr lang="en-US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r>
              <a:rPr lang="en-US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Analysis 6 : </a:t>
            </a:r>
            <a:r>
              <a:rPr lang="en-US" sz="36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Average price of products by category</a:t>
            </a:r>
            <a:br>
              <a:rPr lang="en-US" sz="36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endParaRPr lang="en-US" sz="3600" b="1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F4D68-3BD0-F26E-C172-0D0136BAC08D}"/>
              </a:ext>
            </a:extLst>
          </p:cNvPr>
          <p:cNvSpPr txBox="1"/>
          <p:nvPr/>
        </p:nvSpPr>
        <p:spPr>
          <a:xfrm>
            <a:off x="432619" y="1150526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what is the average price of products by category?</a:t>
            </a: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E35C35-EE47-072A-5243-76279D261A30}"/>
              </a:ext>
            </a:extLst>
          </p:cNvPr>
          <p:cNvSpPr txBox="1"/>
          <p:nvPr/>
        </p:nvSpPr>
        <p:spPr>
          <a:xfrm>
            <a:off x="314632" y="3580955"/>
            <a:ext cx="2231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Result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C8534B-78AE-9814-6A76-7C4B900DCB75}"/>
              </a:ext>
            </a:extLst>
          </p:cNvPr>
          <p:cNvSpPr txBox="1"/>
          <p:nvPr/>
        </p:nvSpPr>
        <p:spPr>
          <a:xfrm>
            <a:off x="314632" y="5476642"/>
            <a:ext cx="106188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average prices in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 Care, Dairy, and Household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Snacks &amp; Cereals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the lowest-priced, high-volume categories</a:t>
            </a:r>
            <a:r>
              <a:rPr lang="en-US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B4D994-0A2B-C13C-5222-632EB1FEFBB3}"/>
              </a:ext>
            </a:extLst>
          </p:cNvPr>
          <p:cNvSpPr/>
          <p:nvPr/>
        </p:nvSpPr>
        <p:spPr>
          <a:xfrm>
            <a:off x="2182761" y="1875390"/>
            <a:ext cx="5447071" cy="170556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BFBB7C-1263-D0F7-0C86-AD21640D86A2}"/>
              </a:ext>
            </a:extLst>
          </p:cNvPr>
          <p:cNvSpPr/>
          <p:nvPr/>
        </p:nvSpPr>
        <p:spPr>
          <a:xfrm>
            <a:off x="2369574" y="3771077"/>
            <a:ext cx="2644878" cy="1705565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BC0C95-3DE9-2CE8-9C6F-3F2F0508C4C0}"/>
              </a:ext>
            </a:extLst>
          </p:cNvPr>
          <p:cNvSpPr/>
          <p:nvPr/>
        </p:nvSpPr>
        <p:spPr>
          <a:xfrm>
            <a:off x="7629832" y="1995948"/>
            <a:ext cx="4247536" cy="291034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27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479C3-3FF6-1436-A516-45AA11A72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157B1-7A38-D293-F468-6D8643F4F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2" y="188143"/>
            <a:ext cx="10515600" cy="71642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Final business insights and recommendations</a:t>
            </a:r>
            <a:endParaRPr lang="en-US" sz="3200" b="1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3FF4C-F52C-286C-5656-8B1424CEBCD3}"/>
              </a:ext>
            </a:extLst>
          </p:cNvPr>
          <p:cNvSpPr txBox="1"/>
          <p:nvPr/>
        </p:nvSpPr>
        <p:spPr>
          <a:xfrm>
            <a:off x="599768" y="973394"/>
            <a:ext cx="1121860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customers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Chetan Naidu and Kapila contribute a significant share of revenue, showing strong repeat-purchase behavior.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Grains &amp; Cereals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Snacks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dominate the product portfolio, while </a:t>
            </a: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Household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very limited items.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January–March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December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peak monthly sales, highlighting seasonal demand cycles.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Aarya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generates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revenue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top products such as Hand Sanitizer and Biscuits.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Friday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followed by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Wednesday and Saturday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drives the highest revenue, while Monday and Tuesday remain slow.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Higher-priced categories like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Dairy, Personal Care, and Household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indicate premium product segments.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Callibri"/>
            </a:endParaRPr>
          </a:p>
        </p:txBody>
      </p:sp>
    </p:spTree>
    <p:extLst>
      <p:ext uri="{BB962C8B-B14F-4D97-AF65-F5344CB8AC3E}">
        <p14:creationId xmlns:p14="http://schemas.microsoft.com/office/powerpoint/2010/main" val="884234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01549-C053-2B1E-DF5E-D7575C047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4227-46EE-600A-2672-A736563D5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2" y="188143"/>
            <a:ext cx="10515600" cy="71642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Recommendations</a:t>
            </a:r>
            <a:endParaRPr lang="en-US" sz="3200" b="1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6DE01B-434B-C306-4882-519138CA8336}"/>
              </a:ext>
            </a:extLst>
          </p:cNvPr>
          <p:cNvSpPr txBox="1"/>
          <p:nvPr/>
        </p:nvSpPr>
        <p:spPr>
          <a:xfrm>
            <a:off x="619432" y="904566"/>
            <a:ext cx="112874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Retention: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Offer loyalty rewards or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personalised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discounts to top customers to boost repeat purchases.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Expansion: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Increase variety in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Household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 Care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categories to balance product distribution.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Planning: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Stock heavily and launch promotions during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January–March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December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maximize revenue.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Optimization: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Strengthen partnership with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Aarya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exploring new suppliers for product diversification.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Strategy: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Promote weekend-focused offers and introduce early-week discounts to balance weekday performance.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Maximization: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Bundle or upsell premium categories like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Dairy and Personal Care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higher margins.</a:t>
            </a:r>
          </a:p>
        </p:txBody>
      </p:sp>
    </p:spTree>
    <p:extLst>
      <p:ext uri="{BB962C8B-B14F-4D97-AF65-F5344CB8AC3E}">
        <p14:creationId xmlns:p14="http://schemas.microsoft.com/office/powerpoint/2010/main" val="632154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26997-B10E-A7D9-36E4-4CBF1BC48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D24C-A612-C151-EDD9-A8D120E03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07B54-8468-D2AF-C4EF-52D0D49E723D}"/>
              </a:ext>
            </a:extLst>
          </p:cNvPr>
          <p:cNvSpPr txBox="1"/>
          <p:nvPr/>
        </p:nvSpPr>
        <p:spPr>
          <a:xfrm>
            <a:off x="432619" y="1513707"/>
            <a:ext cx="10515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demonstrates how a relational database can efficiently manage and analyze grocery store operations.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provides structured data storage through linked tables for products, orders, suppliers, customers, and employees.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queries help uncover insights on sales, customer behavior, and supplier or employee performance.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insights support better decision-making, improving efficiency and overall store performance.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032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ED86C-6A34-3A2A-F867-D36E0EE97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B3B70-C6A4-C4AE-6F4B-FEE2BAC4C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Experience &amp; Challenges</a:t>
            </a:r>
            <a:endParaRPr lang="en-US" sz="3200" b="1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CC006-E20B-DD66-8520-841C4CEA0EF5}"/>
              </a:ext>
            </a:extLst>
          </p:cNvPr>
          <p:cNvSpPr txBox="1"/>
          <p:nvPr/>
        </p:nvSpPr>
        <p:spPr>
          <a:xfrm>
            <a:off x="432619" y="1513707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implemented a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database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linking customers, products, suppliers, and orders.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Wrote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analytical SQL queries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JOIN, GROUP BY, and DATE_FORMAT() to extract business insights.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Gained hands-on experience in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handling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conversions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ensuring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referential integrity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Faced challenges with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 joins, foreign keys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optimizing queries for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 aggregation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Learned to transform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sales data into meaningful insights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such as customer behavior, product performance, and revenue trends.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420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1534</TotalTime>
  <Words>943</Words>
  <Application>Microsoft Office PowerPoint</Application>
  <PresentationFormat>Widescreen</PresentationFormat>
  <Paragraphs>108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Callibri</vt:lpstr>
      <vt:lpstr>Arial</vt:lpstr>
      <vt:lpstr>Libre Baskerville</vt:lpstr>
      <vt:lpstr>Lato Black</vt:lpstr>
      <vt:lpstr>Wingdings</vt:lpstr>
      <vt:lpstr>Office Theme</vt:lpstr>
      <vt:lpstr>PowerPoint Presentation</vt:lpstr>
      <vt:lpstr>PowerPoint Presentation</vt:lpstr>
      <vt:lpstr>Agenda</vt:lpstr>
      <vt:lpstr>Objective of the Project</vt:lpstr>
      <vt:lpstr> ER Diagram </vt:lpstr>
      <vt:lpstr> Analysis 1: Top 5 Customers by total purchase amount </vt:lpstr>
      <vt:lpstr>Analysis 2 : Product Distribution Across Categories</vt:lpstr>
      <vt:lpstr>Analysis 3 : Monthly Trends in Order Volume and Revenue</vt:lpstr>
      <vt:lpstr>Analysis 4: Top Products and Suppliers by Revenue</vt:lpstr>
      <vt:lpstr>Analysis 5: Weekday by highest total revenue</vt:lpstr>
      <vt:lpstr> Analysis 6 : Average price of products by category </vt:lpstr>
      <vt:lpstr>Final business insights and recommendations</vt:lpstr>
      <vt:lpstr>Recommendations</vt:lpstr>
      <vt:lpstr>Conclusion</vt:lpstr>
      <vt:lpstr>Experience &amp; Challenges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Tiksha Chaudhari</cp:lastModifiedBy>
  <cp:revision>42</cp:revision>
  <dcterms:created xsi:type="dcterms:W3CDTF">2021-02-16T05:19:01Z</dcterms:created>
  <dcterms:modified xsi:type="dcterms:W3CDTF">2025-12-19T16:52:20Z</dcterms:modified>
</cp:coreProperties>
</file>